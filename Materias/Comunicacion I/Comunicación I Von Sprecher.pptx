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media/image17.jpeg" ContentType="image/jpeg"/>
  <Override PartName="/ppt/media/image18.jpeg" ContentType="image/jpeg"/>
  <Override PartName="/ppt/media/image19.jpeg" ContentType="image/jpeg"/>
  <Override PartName="/ppt/media/image2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orbe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E2CA"/>
          </a:solidFill>
        </a:fill>
      </a:tcStyle>
    </a:wholeTbl>
    <a:band2H>
      <a:tcTxStyle b="def" i="def"/>
      <a:tcStyle>
        <a:tcBdr/>
        <a:fill>
          <a:solidFill>
            <a:srgbClr val="FCF1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3D6"/>
          </a:solidFill>
        </a:fill>
      </a:tcStyle>
    </a:wholeTbl>
    <a:band2H>
      <a:tcTxStyle b="def" i="def"/>
      <a:tcStyle>
        <a:tcBdr/>
        <a:fill>
          <a:solidFill>
            <a:srgbClr val="FAEA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ACECE"/>
          </a:solidFill>
        </a:fill>
      </a:tcStyle>
    </a:wholeTbl>
    <a:band2H>
      <a:tcTxStyle b="def" i="def"/>
      <a:tcStyle>
        <a:tcBdr/>
        <a:fill>
          <a:solidFill>
            <a:srgbClr val="F5E8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orbel"/>
      </a:defRPr>
    </a:lvl1pPr>
    <a:lvl2pPr indent="228600" latinLnBrk="0">
      <a:defRPr sz="1200">
        <a:latin typeface="+mn-lt"/>
        <a:ea typeface="+mn-ea"/>
        <a:cs typeface="+mn-cs"/>
        <a:sym typeface="Corbel"/>
      </a:defRPr>
    </a:lvl2pPr>
    <a:lvl3pPr indent="457200" latinLnBrk="0">
      <a:defRPr sz="1200">
        <a:latin typeface="+mn-lt"/>
        <a:ea typeface="+mn-ea"/>
        <a:cs typeface="+mn-cs"/>
        <a:sym typeface="Corbel"/>
      </a:defRPr>
    </a:lvl3pPr>
    <a:lvl4pPr indent="685800" latinLnBrk="0">
      <a:defRPr sz="1200">
        <a:latin typeface="+mn-lt"/>
        <a:ea typeface="+mn-ea"/>
        <a:cs typeface="+mn-cs"/>
        <a:sym typeface="Corbel"/>
      </a:defRPr>
    </a:lvl4pPr>
    <a:lvl5pPr indent="914400" latinLnBrk="0">
      <a:defRPr sz="1200">
        <a:latin typeface="+mn-lt"/>
        <a:ea typeface="+mn-ea"/>
        <a:cs typeface="+mn-cs"/>
        <a:sym typeface="Corbel"/>
      </a:defRPr>
    </a:lvl5pPr>
    <a:lvl6pPr indent="1143000" latinLnBrk="0">
      <a:defRPr sz="1200">
        <a:latin typeface="+mn-lt"/>
        <a:ea typeface="+mn-ea"/>
        <a:cs typeface="+mn-cs"/>
        <a:sym typeface="Corbel"/>
      </a:defRPr>
    </a:lvl6pPr>
    <a:lvl7pPr indent="1371600" latinLnBrk="0">
      <a:defRPr sz="1200">
        <a:latin typeface="+mn-lt"/>
        <a:ea typeface="+mn-ea"/>
        <a:cs typeface="+mn-cs"/>
        <a:sym typeface="Corbel"/>
      </a:defRPr>
    </a:lvl7pPr>
    <a:lvl8pPr indent="1600200" latinLnBrk="0">
      <a:defRPr sz="1200">
        <a:latin typeface="+mn-lt"/>
        <a:ea typeface="+mn-ea"/>
        <a:cs typeface="+mn-cs"/>
        <a:sym typeface="Corbel"/>
      </a:defRPr>
    </a:lvl8pPr>
    <a:lvl9pPr indent="1828800" latinLnBrk="0">
      <a:defRPr sz="1200">
        <a:latin typeface="+mn-lt"/>
        <a:ea typeface="+mn-ea"/>
        <a:cs typeface="+mn-cs"/>
        <a:sym typeface="Corbe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de título">
    <p:bg>
      <p:bgPr>
        <a:gradFill flip="none" rotWithShape="1">
          <a:gsLst>
            <a:gs pos="0">
              <a:srgbClr val="BFC4D3"/>
            </a:gs>
            <a:gs pos="12000">
              <a:srgbClr val="BF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8 Rectángulo"/>
          <p:cNvSpPr/>
          <p:nvPr/>
        </p:nvSpPr>
        <p:spPr>
          <a:xfrm>
            <a:off x="-1" y="0"/>
            <a:ext cx="9144001" cy="513543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Texto del título"/>
          <p:cNvSpPr txBox="1"/>
          <p:nvPr>
            <p:ph type="title"/>
          </p:nvPr>
        </p:nvSpPr>
        <p:spPr>
          <a:xfrm>
            <a:off x="685800" y="3355847"/>
            <a:ext cx="8077200" cy="1673353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4700"/>
            </a:lvl1pPr>
          </a:lstStyle>
          <a:p>
            <a:pPr/>
            <a:r>
              <a:t>Texto del título</a:t>
            </a:r>
          </a:p>
        </p:txBody>
      </p:sp>
      <p:sp>
        <p:nvSpPr>
          <p:cNvPr id="15" name="Nivel de texto 1…"/>
          <p:cNvSpPr txBox="1"/>
          <p:nvPr>
            <p:ph type="body" sz="quarter" idx="1"/>
          </p:nvPr>
        </p:nvSpPr>
        <p:spPr>
          <a:xfrm>
            <a:off x="685800" y="1828800"/>
            <a:ext cx="8077200" cy="149961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FFFFFF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FFFFFF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FFFFFF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9 Rectángulo"/>
          <p:cNvSpPr/>
          <p:nvPr/>
        </p:nvSpPr>
        <p:spPr>
          <a:xfrm>
            <a:off x="0" y="5128333"/>
            <a:ext cx="9144000" cy="45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10160" dir="5400000">
              <a:srgbClr val="000000">
                <a:alpha val="6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5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ncabezado de sección">
    <p:bg>
      <p:bgPr>
        <a:gradFill flip="none" rotWithShape="1">
          <a:gsLst>
            <a:gs pos="0">
              <a:srgbClr val="BFC4D3"/>
            </a:gs>
            <a:gs pos="12000">
              <a:srgbClr val="BF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8 Rectángulo"/>
          <p:cNvSpPr/>
          <p:nvPr/>
        </p:nvSpPr>
        <p:spPr>
          <a:xfrm>
            <a:off x="0" y="0"/>
            <a:ext cx="9144000" cy="260252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11 Rectángulo"/>
          <p:cNvSpPr/>
          <p:nvPr/>
        </p:nvSpPr>
        <p:spPr>
          <a:xfrm>
            <a:off x="0" y="2602520"/>
            <a:ext cx="9144000" cy="45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10160" dir="5400000">
              <a:srgbClr val="000000">
                <a:alpha val="6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Texto del título"/>
          <p:cNvSpPr txBox="1"/>
          <p:nvPr>
            <p:ph type="title"/>
          </p:nvPr>
        </p:nvSpPr>
        <p:spPr>
          <a:xfrm>
            <a:off x="749808" y="118871"/>
            <a:ext cx="8013193" cy="163677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700"/>
            </a:lvl1pPr>
          </a:lstStyle>
          <a:p>
            <a:pPr/>
            <a:r>
              <a:t>Texto del título</a:t>
            </a:r>
          </a:p>
        </p:txBody>
      </p:sp>
      <p:sp>
        <p:nvSpPr>
          <p:cNvPr id="36" name="Nivel de texto 1…"/>
          <p:cNvSpPr txBox="1"/>
          <p:nvPr>
            <p:ph type="body" sz="quarter" idx="1"/>
          </p:nvPr>
        </p:nvSpPr>
        <p:spPr>
          <a:xfrm>
            <a:off x="740663" y="1828800"/>
            <a:ext cx="8022337" cy="68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FFFFFF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FFFFFF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FFFFFF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o del título"/>
          <p:cNvSpPr txBox="1"/>
          <p:nvPr>
            <p:ph type="title"/>
          </p:nvPr>
        </p:nvSpPr>
        <p:spPr>
          <a:xfrm>
            <a:off x="457200" y="152400"/>
            <a:ext cx="8229600" cy="1251063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5" name="Nivel de texto 1…"/>
          <p:cNvSpPr txBox="1"/>
          <p:nvPr>
            <p:ph type="body" sz="half" idx="1"/>
          </p:nvPr>
        </p:nvSpPr>
        <p:spPr>
          <a:xfrm>
            <a:off x="457200" y="1773935"/>
            <a:ext cx="4038600" cy="462381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777239" indent="-320039">
              <a:defRPr sz="2800"/>
            </a:lvl2pPr>
            <a:lvl3pPr marL="1088136" indent="-320039">
              <a:defRPr sz="2800"/>
            </a:lvl3pPr>
            <a:lvl4pPr marL="1317752" indent="-284480">
              <a:defRPr sz="2800"/>
            </a:lvl4pPr>
            <a:lvl5pPr marL="1528063" indent="-284480">
              <a:defRPr sz="28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o del título"/>
          <p:cNvSpPr txBox="1"/>
          <p:nvPr>
            <p:ph type="title"/>
          </p:nvPr>
        </p:nvSpPr>
        <p:spPr>
          <a:xfrm>
            <a:off x="457200" y="152400"/>
            <a:ext cx="8229600" cy="1251063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4" name="Nivel de texto 1…"/>
          <p:cNvSpPr txBox="1"/>
          <p:nvPr>
            <p:ph type="body" sz="quarter" idx="1"/>
          </p:nvPr>
        </p:nvSpPr>
        <p:spPr>
          <a:xfrm>
            <a:off x="457200" y="1698986"/>
            <a:ext cx="4040188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cap="all" sz="2300"/>
            </a:lvl1pPr>
            <a:lvl2pPr marL="0" indent="457200">
              <a:buClrTx/>
              <a:buSzTx/>
              <a:buNone/>
              <a:defRPr cap="all" sz="2300"/>
            </a:lvl2pPr>
            <a:lvl3pPr marL="0" indent="914400">
              <a:buClrTx/>
              <a:buSzTx/>
              <a:buNone/>
              <a:defRPr cap="all" sz="2300"/>
            </a:lvl3pPr>
            <a:lvl4pPr marL="0" indent="1371600">
              <a:buClrTx/>
              <a:buSzTx/>
              <a:buNone/>
              <a:defRPr cap="all" sz="2300"/>
            </a:lvl4pPr>
            <a:lvl5pPr marL="0" indent="1828800">
              <a:buClrTx/>
              <a:buSzTx/>
              <a:buNone/>
              <a:defRPr cap="all" sz="23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5" name="4 Marcador de texto"/>
          <p:cNvSpPr/>
          <p:nvPr>
            <p:ph type="body" sz="quarter" idx="21"/>
          </p:nvPr>
        </p:nvSpPr>
        <p:spPr>
          <a:xfrm>
            <a:off x="4645025" y="1698986"/>
            <a:ext cx="4041775" cy="715357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 cap="all" sz="2300"/>
            </a:pPr>
          </a:p>
        </p:txBody>
      </p:sp>
      <p:sp>
        <p:nvSpPr>
          <p:cNvPr id="5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o del título"/>
          <p:cNvSpPr txBox="1"/>
          <p:nvPr>
            <p:ph type="title"/>
          </p:nvPr>
        </p:nvSpPr>
        <p:spPr>
          <a:xfrm>
            <a:off x="457200" y="152400"/>
            <a:ext cx="8229600" cy="1251063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6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o del título"/>
          <p:cNvSpPr txBox="1"/>
          <p:nvPr>
            <p:ph type="title"/>
          </p:nvPr>
        </p:nvSpPr>
        <p:spPr>
          <a:xfrm>
            <a:off x="167837" y="152400"/>
            <a:ext cx="2523746" cy="978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000"/>
            </a:lvl1pPr>
          </a:lstStyle>
          <a:p>
            <a:pPr/>
            <a:r>
              <a:t>Texto del título</a:t>
            </a:r>
          </a:p>
        </p:txBody>
      </p:sp>
      <p:sp>
        <p:nvSpPr>
          <p:cNvPr id="79" name="Nivel de texto 1…"/>
          <p:cNvSpPr txBox="1"/>
          <p:nvPr>
            <p:ph type="body" idx="1"/>
          </p:nvPr>
        </p:nvSpPr>
        <p:spPr>
          <a:xfrm>
            <a:off x="3019376" y="1743132"/>
            <a:ext cx="5920642" cy="4558886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0" name="3 Marcador de texto"/>
          <p:cNvSpPr/>
          <p:nvPr>
            <p:ph type="body" sz="quarter" idx="21"/>
          </p:nvPr>
        </p:nvSpPr>
        <p:spPr>
          <a:xfrm>
            <a:off x="167837" y="1730018"/>
            <a:ext cx="2468882" cy="4572001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81" name="11 Rectángulo"/>
          <p:cNvSpPr/>
          <p:nvPr/>
        </p:nvSpPr>
        <p:spPr>
          <a:xfrm>
            <a:off x="2855736" y="-1"/>
            <a:ext cx="45721" cy="1453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" name="8 Rectángulo"/>
          <p:cNvSpPr/>
          <p:nvPr/>
        </p:nvSpPr>
        <p:spPr>
          <a:xfrm>
            <a:off x="2855736" y="-1"/>
            <a:ext cx="45721" cy="1453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n con título">
    <p:bg>
      <p:bgPr>
        <a:solidFill>
          <a:srgbClr val="D4D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o del título"/>
          <p:cNvSpPr txBox="1"/>
          <p:nvPr>
            <p:ph type="title"/>
          </p:nvPr>
        </p:nvSpPr>
        <p:spPr>
          <a:xfrm>
            <a:off x="164592" y="155447"/>
            <a:ext cx="2525150" cy="97841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000"/>
            </a:lvl1pPr>
          </a:lstStyle>
          <a:p>
            <a:pPr/>
            <a:r>
              <a:t>Texto del título</a:t>
            </a:r>
          </a:p>
        </p:txBody>
      </p:sp>
      <p:sp>
        <p:nvSpPr>
          <p:cNvPr id="91" name="2 Marcador de posición de imagen"/>
          <p:cNvSpPr/>
          <p:nvPr>
            <p:ph type="pic" idx="21"/>
          </p:nvPr>
        </p:nvSpPr>
        <p:spPr>
          <a:xfrm>
            <a:off x="2903804" y="1484808"/>
            <a:ext cx="6247398" cy="537319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2" name="Nivel de texto 1…"/>
          <p:cNvSpPr txBox="1"/>
          <p:nvPr>
            <p:ph type="body" sz="quarter" idx="1"/>
          </p:nvPr>
        </p:nvSpPr>
        <p:spPr>
          <a:xfrm>
            <a:off x="164592" y="1728216"/>
            <a:ext cx="2468880" cy="45720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400"/>
            </a:lvl1pPr>
            <a:lvl2pPr marL="0" indent="457200">
              <a:buClrTx/>
              <a:buSzTx/>
              <a:buNone/>
              <a:defRPr sz="1400"/>
            </a:lvl2pPr>
            <a:lvl3pPr marL="0" indent="914400">
              <a:buClrTx/>
              <a:buSzTx/>
              <a:buNone/>
              <a:defRPr sz="1400"/>
            </a:lvl3pPr>
            <a:lvl4pPr marL="0" indent="1371600">
              <a:buClrTx/>
              <a:buSzTx/>
              <a:buNone/>
              <a:defRPr sz="1400"/>
            </a:lvl4pPr>
            <a:lvl5pPr marL="0" indent="1828800">
              <a:buClrTx/>
              <a:buSzTx/>
              <a:buNone/>
              <a:defRPr sz="14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3" name="10 Rectángulo"/>
          <p:cNvSpPr/>
          <p:nvPr/>
        </p:nvSpPr>
        <p:spPr>
          <a:xfrm>
            <a:off x="2855736" y="0"/>
            <a:ext cx="45721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" name="8 Rectángulo"/>
          <p:cNvSpPr/>
          <p:nvPr/>
        </p:nvSpPr>
        <p:spPr>
          <a:xfrm>
            <a:off x="2855736" y="0"/>
            <a:ext cx="45721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Número de diapositiva"/>
          <p:cNvSpPr txBox="1"/>
          <p:nvPr>
            <p:ph type="sldNum" sz="quarter" idx="2"/>
          </p:nvPr>
        </p:nvSpPr>
        <p:spPr>
          <a:xfrm>
            <a:off x="8908092" y="1193800"/>
            <a:ext cx="165101" cy="1778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Rectángulo"/>
          <p:cNvSpPr/>
          <p:nvPr/>
        </p:nvSpPr>
        <p:spPr>
          <a:xfrm>
            <a:off x="0" y="1435895"/>
            <a:ext cx="9144000" cy="45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10160" dir="5400000">
              <a:srgbClr val="000000">
                <a:alpha val="6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6 Rectángulo"/>
          <p:cNvSpPr/>
          <p:nvPr/>
        </p:nvSpPr>
        <p:spPr>
          <a:xfrm>
            <a:off x="-1" y="-1"/>
            <a:ext cx="9144001" cy="143373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Texto del título"/>
          <p:cNvSpPr txBox="1"/>
          <p:nvPr>
            <p:ph type="title"/>
          </p:nvPr>
        </p:nvSpPr>
        <p:spPr>
          <a:xfrm>
            <a:off x="457200" y="155447"/>
            <a:ext cx="8229600" cy="1252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5" name="Nivel de texto 1…"/>
          <p:cNvSpPr txBox="1"/>
          <p:nvPr>
            <p:ph type="body" idx="1"/>
          </p:nvPr>
        </p:nvSpPr>
        <p:spPr>
          <a:xfrm>
            <a:off x="457200" y="1775191"/>
            <a:ext cx="8229600" cy="4625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" name="Número de diapositiva"/>
          <p:cNvSpPr txBox="1"/>
          <p:nvPr>
            <p:ph type="sldNum" sz="quarter" idx="2"/>
          </p:nvPr>
        </p:nvSpPr>
        <p:spPr>
          <a:xfrm>
            <a:off x="8773160" y="6573518"/>
            <a:ext cx="165101" cy="1778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defRPr sz="1200">
                <a:solidFill>
                  <a:srgbClr val="41414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chemeClr val="accent1"/>
          </a:solidFill>
          <a:uFillTx/>
          <a:latin typeface="+mn-lt"/>
          <a:ea typeface="+mn-ea"/>
          <a:cs typeface="+mn-cs"/>
          <a:sym typeface="Corbel"/>
        </a:defRPr>
      </a:lvl9pPr>
    </p:titleStyle>
    <p:bodyStyle>
      <a:lvl1pPr marL="438912" marR="0" indent="-32004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Tx/>
        <a:buChar char="◼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1pPr>
      <a:lvl2pPr marL="770708" marR="0" indent="-313508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90000"/>
        <a:buFontTx/>
        <a:buChar char="▪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2pPr>
      <a:lvl3pPr marL="1072896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▪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3pPr>
      <a:lvl4pPr marL="1325880" marR="0" indent="-292608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▪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4pPr>
      <a:lvl5pPr marL="1536191" marR="0" indent="-292608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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5pPr>
      <a:lvl6pPr marL="1737360" marR="0" indent="-292608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6pPr>
      <a:lvl7pPr marL="1971039" marR="0" indent="-32511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7pPr>
      <a:lvl8pPr marL="2172207" marR="0" indent="-32511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8pPr>
      <a:lvl9pPr marL="2373375" marR="0" indent="-32511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100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orbe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rbe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e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1 Título"/>
          <p:cNvSpPr txBox="1"/>
          <p:nvPr>
            <p:ph type="ctrTitle"/>
          </p:nvPr>
        </p:nvSpPr>
        <p:spPr>
          <a:xfrm>
            <a:off x="685800" y="3355847"/>
            <a:ext cx="8077200" cy="1673352"/>
          </a:xfrm>
          <a:prstGeom prst="rect">
            <a:avLst/>
          </a:prstGeom>
        </p:spPr>
        <p:txBody>
          <a:bodyPr/>
          <a:lstStyle/>
          <a:p>
            <a:pPr/>
            <a:r>
              <a:t>Comunicación I</a:t>
            </a:r>
          </a:p>
        </p:txBody>
      </p:sp>
      <p:sp>
        <p:nvSpPr>
          <p:cNvPr id="105" name="2 Subtítulo"/>
          <p:cNvSpPr txBox="1"/>
          <p:nvPr>
            <p:ph type="subTitle" sz="quarter" idx="1"/>
          </p:nvPr>
        </p:nvSpPr>
        <p:spPr>
          <a:xfrm>
            <a:off x="685800" y="1828799"/>
            <a:ext cx="8077200" cy="1499618"/>
          </a:xfrm>
          <a:prstGeom prst="rect">
            <a:avLst/>
          </a:prstGeom>
        </p:spPr>
        <p:txBody>
          <a:bodyPr/>
          <a:lstStyle/>
          <a:p>
            <a:pPr/>
            <a:r>
              <a:t>Unidad I</a:t>
            </a:r>
          </a:p>
          <a:p>
            <a:pPr/>
            <a:r>
              <a:t>¿Qué es la comunicación social? Definición, Perspectiva, niveles.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5 Marcador de contenido"/>
          <p:cNvGrpSpPr/>
          <p:nvPr/>
        </p:nvGrpSpPr>
        <p:grpSpPr>
          <a:xfrm>
            <a:off x="1186697" y="651987"/>
            <a:ext cx="5906882" cy="5476164"/>
            <a:chOff x="0" y="0"/>
            <a:chExt cx="5906880" cy="5476162"/>
          </a:xfrm>
        </p:grpSpPr>
        <p:grpSp>
          <p:nvGrpSpPr>
            <p:cNvPr id="109" name="Agrupar"/>
            <p:cNvGrpSpPr/>
            <p:nvPr/>
          </p:nvGrpSpPr>
          <p:grpSpPr>
            <a:xfrm>
              <a:off x="1215988" y="0"/>
              <a:ext cx="3369947" cy="3369947"/>
              <a:chOff x="0" y="0"/>
              <a:chExt cx="3369946" cy="3369946"/>
            </a:xfrm>
          </p:grpSpPr>
          <p:sp>
            <p:nvSpPr>
              <p:cNvPr id="107" name="Círculo"/>
              <p:cNvSpPr/>
              <p:nvPr/>
            </p:nvSpPr>
            <p:spPr>
              <a:xfrm>
                <a:off x="-1" y="-1"/>
                <a:ext cx="3369948" cy="336994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480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466850">
                  <a:lnSpc>
                    <a:spcPct val="90000"/>
                  </a:lnSpc>
                  <a:spcBef>
                    <a:spcPts val="1300"/>
                  </a:spcBef>
                  <a:defRPr sz="3300"/>
                </a:pPr>
              </a:p>
            </p:txBody>
          </p:sp>
          <p:sp>
            <p:nvSpPr>
              <p:cNvPr id="108" name="Comunicación"/>
              <p:cNvSpPr txBox="1"/>
              <p:nvPr/>
            </p:nvSpPr>
            <p:spPr>
              <a:xfrm>
                <a:off x="66123" y="794633"/>
                <a:ext cx="2917520" cy="1080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marL="438912" indent="-320040" algn="ctr" defTabSz="1466850">
                  <a:lnSpc>
                    <a:spcPct val="90000"/>
                  </a:lnSpc>
                  <a:spcBef>
                    <a:spcPts val="1300"/>
                  </a:spcBef>
                  <a:buClr>
                    <a:schemeClr val="accent1"/>
                  </a:buClr>
                  <a:buSzPct val="80000"/>
                  <a:buChar char="◼"/>
                  <a:defRPr sz="3300"/>
                </a:lvl1pPr>
              </a:lstStyle>
              <a:p>
                <a:pPr/>
                <a:r>
                  <a:t>Comunicación</a:t>
                </a:r>
                <a:endParaRPr sz="3200"/>
              </a:p>
            </p:txBody>
          </p:sp>
        </p:grpSp>
        <p:grpSp>
          <p:nvGrpSpPr>
            <p:cNvPr id="112" name="Agrupar"/>
            <p:cNvGrpSpPr/>
            <p:nvPr/>
          </p:nvGrpSpPr>
          <p:grpSpPr>
            <a:xfrm>
              <a:off x="2612522" y="1942689"/>
              <a:ext cx="3294359" cy="3525671"/>
              <a:chOff x="0" y="0"/>
              <a:chExt cx="3294358" cy="3525670"/>
            </a:xfrm>
          </p:grpSpPr>
          <p:sp>
            <p:nvSpPr>
              <p:cNvPr id="110" name="Óvalo"/>
              <p:cNvSpPr/>
              <p:nvPr/>
            </p:nvSpPr>
            <p:spPr>
              <a:xfrm>
                <a:off x="-1" y="-1"/>
                <a:ext cx="3294360" cy="3525672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480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466850">
                  <a:lnSpc>
                    <a:spcPct val="90000"/>
                  </a:lnSpc>
                  <a:spcBef>
                    <a:spcPts val="1300"/>
                  </a:spcBef>
                  <a:defRPr sz="3300"/>
                </a:pPr>
              </a:p>
            </p:txBody>
          </p:sp>
          <p:sp>
            <p:nvSpPr>
              <p:cNvPr id="111" name="Cultura"/>
              <p:cNvSpPr txBox="1"/>
              <p:nvPr/>
            </p:nvSpPr>
            <p:spPr>
              <a:xfrm>
                <a:off x="1007523" y="1340227"/>
                <a:ext cx="1976615" cy="1080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marL="438912" indent="-320040" algn="ctr" defTabSz="1466850">
                  <a:lnSpc>
                    <a:spcPct val="90000"/>
                  </a:lnSpc>
                  <a:spcBef>
                    <a:spcPts val="1300"/>
                  </a:spcBef>
                  <a:buClr>
                    <a:schemeClr val="accent1"/>
                  </a:buClr>
                  <a:buSzPct val="80000"/>
                  <a:buChar char="◼"/>
                  <a:defRPr sz="3300"/>
                </a:lvl1pPr>
              </a:lstStyle>
              <a:p>
                <a:pPr/>
                <a:r>
                  <a:t>Cultura</a:t>
                </a:r>
                <a:endParaRPr sz="3200"/>
              </a:p>
            </p:txBody>
          </p:sp>
        </p:grpSp>
        <p:grpSp>
          <p:nvGrpSpPr>
            <p:cNvPr id="115" name="Agrupar"/>
            <p:cNvGrpSpPr/>
            <p:nvPr/>
          </p:nvGrpSpPr>
          <p:grpSpPr>
            <a:xfrm>
              <a:off x="0" y="2106216"/>
              <a:ext cx="3369947" cy="3369947"/>
              <a:chOff x="0" y="0"/>
              <a:chExt cx="3369946" cy="3369946"/>
            </a:xfrm>
          </p:grpSpPr>
          <p:sp>
            <p:nvSpPr>
              <p:cNvPr id="113" name="Círculo"/>
              <p:cNvSpPr/>
              <p:nvPr/>
            </p:nvSpPr>
            <p:spPr>
              <a:xfrm>
                <a:off x="-1" y="-1"/>
                <a:ext cx="3369948" cy="336994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480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466850">
                  <a:lnSpc>
                    <a:spcPct val="90000"/>
                  </a:lnSpc>
                  <a:spcBef>
                    <a:spcPts val="1300"/>
                  </a:spcBef>
                  <a:defRPr sz="3300"/>
                </a:pPr>
              </a:p>
            </p:txBody>
          </p:sp>
          <p:sp>
            <p:nvSpPr>
              <p:cNvPr id="114" name="Sociedad"/>
              <p:cNvSpPr txBox="1"/>
              <p:nvPr/>
            </p:nvSpPr>
            <p:spPr>
              <a:xfrm>
                <a:off x="317335" y="1257172"/>
                <a:ext cx="2021969" cy="1080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marL="438912" indent="-320040" algn="ctr" defTabSz="1466850">
                  <a:lnSpc>
                    <a:spcPct val="90000"/>
                  </a:lnSpc>
                  <a:spcBef>
                    <a:spcPts val="1300"/>
                  </a:spcBef>
                  <a:buClr>
                    <a:schemeClr val="accent1"/>
                  </a:buClr>
                  <a:buSzPct val="80000"/>
                  <a:buChar char="◼"/>
                  <a:defRPr sz="3300"/>
                </a:lvl1pPr>
              </a:lstStyle>
              <a:p>
                <a:pPr/>
                <a:r>
                  <a:t>Sociedad</a:t>
                </a:r>
                <a:endParaRPr sz="3200"/>
              </a:p>
            </p:txBody>
          </p:sp>
        </p:grpSp>
      </p:grpSp>
      <p:sp>
        <p:nvSpPr>
          <p:cNvPr id="117" name="6 CuadroTexto"/>
          <p:cNvSpPr txBox="1"/>
          <p:nvPr/>
        </p:nvSpPr>
        <p:spPr>
          <a:xfrm>
            <a:off x="5553824" y="6237311"/>
            <a:ext cx="150453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Marco Analítico</a:t>
            </a:r>
          </a:p>
        </p:txBody>
      </p:sp>
      <p:sp>
        <p:nvSpPr>
          <p:cNvPr id="118" name="9 CuadroTexto"/>
          <p:cNvSpPr txBox="1"/>
          <p:nvPr/>
        </p:nvSpPr>
        <p:spPr>
          <a:xfrm>
            <a:off x="3748833" y="3951616"/>
            <a:ext cx="1052506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Realidad</a:t>
            </a:r>
          </a:p>
          <a:p>
            <a:pPr/>
            <a:r>
              <a:t>Sentidos</a:t>
            </a:r>
          </a:p>
        </p:txBody>
      </p:sp>
      <p:sp>
        <p:nvSpPr>
          <p:cNvPr id="119" name="10 CuadroTexto"/>
          <p:cNvSpPr txBox="1"/>
          <p:nvPr/>
        </p:nvSpPr>
        <p:spPr>
          <a:xfrm>
            <a:off x="4744718" y="4725144"/>
            <a:ext cx="294277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Sistema  Significante (Williams)</a:t>
            </a:r>
          </a:p>
          <a:p>
            <a:pPr/>
            <a:r>
              <a:t>Orden cognoscitivo (Guiddens)</a:t>
            </a:r>
          </a:p>
        </p:txBody>
      </p:sp>
      <p:sp>
        <p:nvSpPr>
          <p:cNvPr id="120" name="11 CuadroTexto"/>
          <p:cNvSpPr txBox="1"/>
          <p:nvPr/>
        </p:nvSpPr>
        <p:spPr>
          <a:xfrm>
            <a:off x="2059680" y="4448144"/>
            <a:ext cx="1663711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Actores- Agentes</a:t>
            </a:r>
          </a:p>
          <a:p>
            <a:pPr/>
            <a:r>
              <a:t>Relaciones</a:t>
            </a:r>
          </a:p>
          <a:p>
            <a:pPr/>
            <a:r>
              <a:t>Posiciones</a:t>
            </a:r>
          </a:p>
          <a:p>
            <a:pPr/>
            <a:r>
              <a:t>Estructuras</a:t>
            </a:r>
          </a:p>
        </p:txBody>
      </p:sp>
      <p:sp>
        <p:nvSpPr>
          <p:cNvPr id="121" name="12 CuadroTexto"/>
          <p:cNvSpPr txBox="1"/>
          <p:nvPr/>
        </p:nvSpPr>
        <p:spPr>
          <a:xfrm>
            <a:off x="3457576" y="2132111"/>
            <a:ext cx="212448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Interacciones-Prácticas</a:t>
            </a:r>
          </a:p>
        </p:txBody>
      </p:sp>
      <p:sp>
        <p:nvSpPr>
          <p:cNvPr id="122" name="13 CuadroTexto"/>
          <p:cNvSpPr txBox="1"/>
          <p:nvPr/>
        </p:nvSpPr>
        <p:spPr>
          <a:xfrm>
            <a:off x="273771" y="1613776"/>
            <a:ext cx="2254074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Condiciones materiales </a:t>
            </a:r>
          </a:p>
          <a:p>
            <a:pPr/>
            <a:r>
              <a:t>de existencia</a:t>
            </a:r>
          </a:p>
        </p:txBody>
      </p:sp>
      <p:sp>
        <p:nvSpPr>
          <p:cNvPr id="123" name="14 CuadroTexto"/>
          <p:cNvSpPr txBox="1"/>
          <p:nvPr/>
        </p:nvSpPr>
        <p:spPr>
          <a:xfrm>
            <a:off x="427727" y="2593776"/>
            <a:ext cx="2095685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Modos de Producción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Definición operativa</a:t>
            </a:r>
          </a:p>
        </p:txBody>
      </p:sp>
      <p:sp>
        <p:nvSpPr>
          <p:cNvPr id="126" name="2 Marcador de contenido"/>
          <p:cNvSpPr txBox="1"/>
          <p:nvPr>
            <p:ph type="body" idx="1"/>
          </p:nvPr>
        </p:nvSpPr>
        <p:spPr>
          <a:xfrm>
            <a:off x="457199" y="1678389"/>
            <a:ext cx="8229601" cy="4857405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SzTx/>
              <a:buFont typeface="Wingdings 2"/>
              <a:buNone/>
              <a:defRPr sz="2700"/>
            </a:pPr>
            <a:r>
              <a:t>«Conjunto de </a:t>
            </a:r>
            <a:r>
              <a:rPr u="sng"/>
              <a:t>intercambios de sentidos </a:t>
            </a:r>
            <a:r>
              <a:t>entre </a:t>
            </a:r>
            <a:r>
              <a:rPr u="sng"/>
              <a:t>agentes sociales</a:t>
            </a:r>
            <a:r>
              <a:t> que se suceden en el tiempo y que constituyen la </a:t>
            </a:r>
            <a:r>
              <a:rPr u="sng"/>
              <a:t>red discursiva </a:t>
            </a:r>
            <a:r>
              <a:t>de una sociedad, red que puede pensarse relacionalmente a niveles micro, meso y macro.</a:t>
            </a:r>
          </a:p>
          <a:p>
            <a:pPr marL="0" indent="0">
              <a:lnSpc>
                <a:spcPct val="90000"/>
              </a:lnSpc>
              <a:buSzTx/>
              <a:buFont typeface="Wingdings 2"/>
              <a:buNone/>
              <a:defRPr sz="2700"/>
            </a:pPr>
            <a:r>
              <a:t>Esta red discursiva está tejida por las </a:t>
            </a:r>
            <a:r>
              <a:rPr u="sng"/>
              <a:t>prácticas productoras de sentido</a:t>
            </a:r>
            <a:r>
              <a:t>- que se manifiestan en </a:t>
            </a:r>
            <a:r>
              <a:rPr u="sng"/>
              <a:t>discursos-</a:t>
            </a:r>
            <a:r>
              <a:t> de los agentes sociales (individuos, instituciones, empresas, etc) que ocupan distintas posiciones en el </a:t>
            </a:r>
            <a:r>
              <a:rPr u="sng"/>
              <a:t>espacio social</a:t>
            </a:r>
            <a:r>
              <a:t> general (en las clases sociales) y en los </a:t>
            </a:r>
            <a:r>
              <a:rPr u="sng"/>
              <a:t>campos</a:t>
            </a:r>
            <a:r>
              <a:t> que forman parte del mismo-, posiciones que implican </a:t>
            </a:r>
            <a:r>
              <a:rPr u="sng"/>
              <a:t>capitales</a:t>
            </a:r>
            <a:r>
              <a:t> y </a:t>
            </a:r>
            <a:r>
              <a:rPr u="sng"/>
              <a:t>poderes</a:t>
            </a:r>
            <a:r>
              <a:t> diferentes, puestos en juego en el intercambio, </a:t>
            </a:r>
            <a:r>
              <a:rPr u="sng"/>
              <a:t>luchas</a:t>
            </a:r>
            <a:r>
              <a:t> en consecuencia».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Conceptos de base </a:t>
            </a:r>
          </a:p>
        </p:txBody>
      </p:sp>
      <p:sp>
        <p:nvSpPr>
          <p:cNvPr id="129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2900"/>
            </a:pPr>
            <a:r>
              <a:t>Teoría social de base: P. Bourdieu; A. Giddens. El problema de la reproducción y la transformación social. </a:t>
            </a:r>
          </a:p>
          <a:p>
            <a:pPr>
              <a:lnSpc>
                <a:spcPct val="80000"/>
              </a:lnSpc>
              <a:defRPr sz="2900"/>
            </a:pPr>
            <a:r>
              <a:t>Espacio y campo social: campo de fuerzas y estructura. </a:t>
            </a:r>
          </a:p>
          <a:p>
            <a:pPr>
              <a:lnSpc>
                <a:spcPct val="80000"/>
              </a:lnSpc>
              <a:defRPr sz="2900"/>
            </a:pPr>
            <a:r>
              <a:t>Capital de diferentes especies (social, simbólico, económicos, etc.)</a:t>
            </a:r>
          </a:p>
          <a:p>
            <a:pPr>
              <a:lnSpc>
                <a:spcPct val="80000"/>
              </a:lnSpc>
              <a:defRPr sz="2900"/>
            </a:pPr>
            <a:r>
              <a:t>Posición Social </a:t>
            </a:r>
          </a:p>
          <a:p>
            <a:pPr>
              <a:lnSpc>
                <a:spcPct val="80000"/>
              </a:lnSpc>
              <a:defRPr sz="2900"/>
            </a:pPr>
            <a:r>
              <a:t>Habitus: estructura estructurante. Socialización. Sistema de esquemas de producción de prácticas, de percepciones, y valoraciones.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3 Marcador de contenido"/>
          <p:cNvSpPr txBox="1"/>
          <p:nvPr>
            <p:ph type="body" idx="4294967295"/>
          </p:nvPr>
        </p:nvSpPr>
        <p:spPr>
          <a:xfrm>
            <a:off x="457200" y="1285884"/>
            <a:ext cx="8229601" cy="45259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SzTx/>
              <a:buFont typeface="Wingdings 2"/>
              <a:buNone/>
              <a:defRPr sz="2900"/>
            </a:lvl1pPr>
          </a:lstStyle>
          <a:p>
            <a:pPr/>
            <a:r>
              <a:t>«Comunicación es el conjunto de intercambios a partir de los cuales se van procesando identidades, normas, valores, se van articulando intereses, se van acumulando y legalizando saberes y poderes, es inevitable reconocerla como un terreno privilegiado para la construcción del orden social. Es decir, como un terreno a partir del cual diferentes actores propondrán sus propios sentidos de ese orden, que competirán entre sí, para convertirse en hegemónicos» (Mata, 1983: 3).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Red discursiva que teje …. </a:t>
            </a:r>
          </a:p>
        </p:txBody>
      </p:sp>
      <p:sp>
        <p:nvSpPr>
          <p:cNvPr id="134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Valores: criterios, concepciones generales, orientaciones de elecciones y acciones cotidianas. </a:t>
            </a:r>
          </a:p>
          <a:p>
            <a:pPr/>
            <a:r>
              <a:t>Normas: preceptos, sentido común. Deber ser. Limitaciones. Usos, hábitos, costumbres, leyes, reglamentos.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Red discursiva que teje</a:t>
            </a:r>
          </a:p>
        </p:txBody>
      </p:sp>
      <p:sp>
        <p:nvSpPr>
          <p:cNvPr id="137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Saberes, conocimientos, habilidades. Formas de aprehender el mundo y de intervenir en él. </a:t>
            </a:r>
          </a:p>
          <a:p>
            <a:pPr/>
            <a:r>
              <a:t>Poderes: capacidades para la acción, disponibilidad de fuerzas y de recursos. Redes entre agentes sociales.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Conceptos claves… Discurso (s)</a:t>
            </a:r>
          </a:p>
        </p:txBody>
      </p:sp>
      <p:sp>
        <p:nvSpPr>
          <p:cNvPr id="140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2900"/>
            </a:pPr>
            <a:r>
              <a:t>Toda producción de sentido tiene una manifestación material.</a:t>
            </a:r>
          </a:p>
          <a:p>
            <a:pPr>
              <a:lnSpc>
                <a:spcPct val="80000"/>
              </a:lnSpc>
              <a:defRPr sz="2900"/>
            </a:pPr>
            <a:r>
              <a:t>Conglomerados de materias significantes. Materializaciones sensibles investidas  -por alguien- de sentido (Verón). </a:t>
            </a:r>
          </a:p>
          <a:p>
            <a:pPr>
              <a:lnSpc>
                <a:spcPct val="80000"/>
              </a:lnSpc>
              <a:defRPr sz="2900"/>
            </a:pPr>
            <a:r>
              <a:t>Configuraciones identificadas en algún soporte (imágenes, comportamientos, etc). </a:t>
            </a:r>
          </a:p>
          <a:p>
            <a:pPr>
              <a:lnSpc>
                <a:spcPct val="80000"/>
              </a:lnSpc>
              <a:defRPr sz="2900"/>
            </a:pPr>
            <a:r>
              <a:t>Dimensión social y cultural: conforman las condiciones de producción de los discursos. </a:t>
            </a:r>
          </a:p>
          <a:p>
            <a:pPr lvl="1" marL="731519" indent="-274319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defRPr sz="2500"/>
            </a:pPr>
            <a:r>
              <a:t>Restricciones/posibilidades  de acuerdo a situaciones, ámbitos.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Discurso</a:t>
            </a:r>
          </a:p>
        </p:txBody>
      </p:sp>
      <p:sp>
        <p:nvSpPr>
          <p:cNvPr id="143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Formas discursivas: moldes característicos que tienen las prácticas comunicativas. </a:t>
            </a:r>
          </a:p>
          <a:p>
            <a:pPr/>
            <a:r>
              <a:t>Géneros. Estrategias de comunicabilidad. Orientan qué hacer y cómo decir en distintas esferas sociales.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sentido</a:t>
            </a:r>
          </a:p>
        </p:txBody>
      </p:sp>
      <p:sp>
        <p:nvSpPr>
          <p:cNvPr id="146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Definiciones, modelos, versiones de la realidad.</a:t>
            </a:r>
          </a:p>
          <a:p>
            <a:pPr/>
            <a:r>
              <a:t>Puesta en acto de hábitus. </a:t>
            </a:r>
          </a:p>
          <a:p>
            <a:pPr/>
            <a:r>
              <a:t>Es inestable/dinámico</a:t>
            </a:r>
          </a:p>
          <a:p>
            <a:pPr/>
            <a:r>
              <a:t>Es relacional</a:t>
            </a:r>
          </a:p>
          <a:p>
            <a:pPr/>
            <a:r>
              <a:t> consensos/orden social.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Sentido/discurso/realidad</a:t>
            </a:r>
          </a:p>
        </p:txBody>
      </p:sp>
      <p:pic>
        <p:nvPicPr>
          <p:cNvPr id="149" name="3 Marcador de contenido" descr="3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408" y="2140139"/>
            <a:ext cx="7187184" cy="38953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Sentido/discurso/realidad</a:t>
            </a:r>
          </a:p>
        </p:txBody>
      </p:sp>
      <p:pic>
        <p:nvPicPr>
          <p:cNvPr id="152" name="3 Marcador de contenido" descr="3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063750"/>
            <a:ext cx="6858000" cy="40481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Sentidos/orden social </a:t>
            </a:r>
          </a:p>
        </p:txBody>
      </p:sp>
      <p:pic>
        <p:nvPicPr>
          <p:cNvPr id="155" name="3 Marcador de contenido" descr="3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2087561"/>
            <a:ext cx="6667500" cy="4000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Sentidos/orden social</a:t>
            </a:r>
          </a:p>
        </p:txBody>
      </p:sp>
      <p:pic>
        <p:nvPicPr>
          <p:cNvPr id="158" name="3 Marcador de contenido" descr="3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6250" y="1822593"/>
            <a:ext cx="6791499" cy="45304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Codificación/decodificación</a:t>
            </a:r>
          </a:p>
        </p:txBody>
      </p:sp>
      <p:sp>
        <p:nvSpPr>
          <p:cNvPr id="161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Práctica /convenciones/ organización/ Condiciones de producción. </a:t>
            </a:r>
          </a:p>
          <a:p>
            <a:pPr lvl="1" marL="731519" indent="-274319">
              <a:spcBef>
                <a:spcPts val="600"/>
              </a:spcBef>
              <a:buClr>
                <a:schemeClr val="accent2"/>
              </a:buClr>
              <a:defRPr sz="2800"/>
            </a:pPr>
            <a:r>
              <a:t>Gramáticas de producción/de reconocimiento</a:t>
            </a:r>
          </a:p>
          <a:p>
            <a:pPr/>
            <a:r>
              <a:t>Códigos/reglas:+ o - formalizadas</a:t>
            </a:r>
          </a:p>
          <a:p>
            <a:pPr/>
            <a:r>
              <a:t>Convenciones/pautas culturales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Codificación/decodificación</a:t>
            </a:r>
          </a:p>
        </p:txBody>
      </p:sp>
      <p:sp>
        <p:nvSpPr>
          <p:cNvPr id="164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Asimetrías: posiciones hipotéticas (Hall) dominantes/negociadas/radicales</a:t>
            </a:r>
          </a:p>
        </p:txBody>
      </p:sp>
      <p:pic>
        <p:nvPicPr>
          <p:cNvPr id="165" name="3 Imagen" descr="3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32040" y="2865415"/>
            <a:ext cx="2924176" cy="156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4 Imagen" descr="4 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9808" y="2873330"/>
            <a:ext cx="3318136" cy="221209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5 CuadroTexto"/>
          <p:cNvSpPr txBox="1"/>
          <p:nvPr/>
        </p:nvSpPr>
        <p:spPr>
          <a:xfrm>
            <a:off x="795527" y="5589239"/>
            <a:ext cx="7577285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Greimás: la comunicación es un malentendido, es una relación polémico contractual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Macrosocial/Macrocomunicacional</a:t>
            </a:r>
          </a:p>
        </p:txBody>
      </p:sp>
      <p:sp>
        <p:nvSpPr>
          <p:cNvPr id="170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Prácticas que afectan las estructuras sociales globales (niveles amplios, nacional, regional, etc). </a:t>
            </a:r>
          </a:p>
        </p:txBody>
      </p:sp>
      <p:pic>
        <p:nvPicPr>
          <p:cNvPr id="171" name="3 Imagen" descr="3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1599" y="3875042"/>
            <a:ext cx="2771776" cy="1647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4 Imagen" descr="4 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95935" y="3429000"/>
            <a:ext cx="4513264" cy="25399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Mesosocial/mesocomunicacional</a:t>
            </a:r>
          </a:p>
        </p:txBody>
      </p:sp>
      <p:sp>
        <p:nvSpPr>
          <p:cNvPr id="175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Prácticas de comunicación institucional, organizacional. Aluden a reglas internas y pautas formales. Podemos enfocar lo macro, en un espacio/tiempo más específico. </a:t>
            </a:r>
          </a:p>
        </p:txBody>
      </p:sp>
      <p:pic>
        <p:nvPicPr>
          <p:cNvPr id="176" name="3 Imagen" descr="3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36" y="3733053"/>
            <a:ext cx="8028385" cy="27938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Microsocial/microcomunicacional</a:t>
            </a:r>
          </a:p>
        </p:txBody>
      </p:sp>
      <p:sp>
        <p:nvSpPr>
          <p:cNvPr id="179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Prácticas cara a cara/co-presencia/cotidianas. Menos formalizadas. Está atravesada por los niveles anteriores. </a:t>
            </a:r>
          </a:p>
        </p:txBody>
      </p:sp>
      <p:pic>
        <p:nvPicPr>
          <p:cNvPr id="180" name="3 Imagen" descr="3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82228" y="3501009"/>
            <a:ext cx="4210152" cy="2791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4 Imagen" descr="4 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520" y="3428998"/>
            <a:ext cx="3936481" cy="28742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El discurso público</a:t>
            </a:r>
          </a:p>
        </p:txBody>
      </p:sp>
      <p:sp>
        <p:nvSpPr>
          <p:cNvPr id="184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Visibilidad</a:t>
            </a:r>
          </a:p>
          <a:p>
            <a:pPr/>
            <a:r>
              <a:t>Organizaciones comunicacionales</a:t>
            </a:r>
          </a:p>
          <a:p>
            <a:pPr/>
            <a:r>
              <a:t>Hegemónico </a:t>
            </a:r>
          </a:p>
          <a:p>
            <a:pPr/>
            <a:r>
              <a:t>Luchas y poderes</a:t>
            </a:r>
          </a:p>
        </p:txBody>
      </p:sp>
      <p:pic>
        <p:nvPicPr>
          <p:cNvPr id="185" name="3 Imagen" descr="3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39951" y="3140967"/>
            <a:ext cx="4364751" cy="29045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Pero también es esto</a:t>
            </a:r>
          </a:p>
        </p:txBody>
      </p:sp>
      <p:pic>
        <p:nvPicPr>
          <p:cNvPr id="188" name="3 Marcador de contenido" descr="3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1560" y="1772816"/>
            <a:ext cx="4176465" cy="24744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4 Imagen" descr="4 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2040" y="2996951"/>
            <a:ext cx="3780419" cy="25202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>
              <a:defRPr sz="4000"/>
            </a:pPr>
            <a:r>
              <a:t>Comunicándonos construimos …</a:t>
            </a:r>
            <a:br/>
            <a:r>
              <a:t>Identidad (es)</a:t>
            </a:r>
          </a:p>
        </p:txBody>
      </p:sp>
      <p:sp>
        <p:nvSpPr>
          <p:cNvPr id="192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Grupales, colectivas, de diferentes escalas y ámbitos</a:t>
            </a:r>
          </a:p>
          <a:p>
            <a:pPr/>
            <a:r>
              <a:t>Relativas/inestables/construcciones sociales/históricas</a:t>
            </a:r>
          </a:p>
          <a:p>
            <a:pPr/>
            <a:r>
              <a:t>Identificaciones/interpelaciones</a:t>
            </a:r>
          </a:p>
          <a:p>
            <a:pPr/>
            <a:r>
              <a:t>Coherencias y continuidades que marcan diferencias. Modalidades de definición/inclusión.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Identidades e identifdicaciones de todo tipo</a:t>
            </a:r>
          </a:p>
        </p:txBody>
      </p:sp>
      <p:pic>
        <p:nvPicPr>
          <p:cNvPr id="195" name="5 Marcador de contenido" descr="5 Marcador de contenid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4274" y="1700806"/>
            <a:ext cx="1529726" cy="2403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6 Imagen" descr="6 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527" y="1700807"/>
            <a:ext cx="3460753" cy="19875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7 Imagen" descr="7 Image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67943" y="1700806"/>
            <a:ext cx="3685494" cy="2764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8 Imagen" descr="8 Image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65701" y="5230367"/>
            <a:ext cx="2351838" cy="1627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9 Imagen" descr="9 Image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03174" y="4100195"/>
            <a:ext cx="3759438" cy="27736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11 Imagen" descr="11 Image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4096" y="3858610"/>
            <a:ext cx="4243893" cy="15708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Interpelaciones </a:t>
            </a:r>
          </a:p>
        </p:txBody>
      </p:sp>
      <p:sp>
        <p:nvSpPr>
          <p:cNvPr id="203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Llamadas que recibimos de diferentes agentes de interpelación (de instituciones, organizaciones, grupos, etc.)</a:t>
            </a:r>
          </a:p>
          <a:p>
            <a:pPr/>
            <a:r>
              <a:t> y de formas variadas(consultivas, autoritarias, afectivas, lúdicas, etc).</a:t>
            </a:r>
          </a:p>
          <a:p>
            <a:pPr/>
            <a:r>
              <a:t> que marcan posiciones (asimétricas, simétricas, dominantes, legitimadas, silencias, etc).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1 Título"/>
          <p:cNvSpPr txBox="1"/>
          <p:nvPr>
            <p:ph type="title"/>
          </p:nvPr>
        </p:nvSpPr>
        <p:spPr>
          <a:xfrm>
            <a:off x="457200" y="152399"/>
            <a:ext cx="8229600" cy="1251064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Comunicándonos también hacemos y des –hacemos…</a:t>
            </a:r>
          </a:p>
        </p:txBody>
      </p:sp>
      <p:sp>
        <p:nvSpPr>
          <p:cNvPr id="206" name="3 Marcador de texto"/>
          <p:cNvSpPr txBox="1"/>
          <p:nvPr>
            <p:ph type="body" sz="quarter" idx="1"/>
          </p:nvPr>
        </p:nvSpPr>
        <p:spPr>
          <a:xfrm>
            <a:off x="457200" y="1698986"/>
            <a:ext cx="4040188" cy="715357"/>
          </a:xfrm>
          <a:prstGeom prst="rect">
            <a:avLst/>
          </a:prstGeom>
        </p:spPr>
        <p:txBody>
          <a:bodyPr/>
          <a:lstStyle/>
          <a:p>
            <a:pPr/>
            <a:r>
              <a:t>Hegemonías</a:t>
            </a:r>
          </a:p>
        </p:txBody>
      </p:sp>
      <p:sp>
        <p:nvSpPr>
          <p:cNvPr id="207" name="2 Marcador de contenido"/>
          <p:cNvSpPr txBox="1"/>
          <p:nvPr/>
        </p:nvSpPr>
        <p:spPr>
          <a:xfrm>
            <a:off x="466344" y="2495231"/>
            <a:ext cx="3985324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Producto de negociaciones desiguales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Consensos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Status quo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Sentido común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Orden social y simbólico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Imaginarios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Jerarquías instituidas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Legitimaciones</a:t>
            </a:r>
          </a:p>
        </p:txBody>
      </p:sp>
      <p:sp>
        <p:nvSpPr>
          <p:cNvPr id="208" name="4 Marcador de texto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ClrTx/>
              <a:buSzTx/>
              <a:buNone/>
              <a:defRPr cap="all" sz="2300"/>
            </a:lvl1pPr>
          </a:lstStyle>
          <a:p>
            <a:pPr/>
            <a:r>
              <a:t>contrahegemonías</a:t>
            </a:r>
          </a:p>
        </p:txBody>
      </p:sp>
      <p:sp>
        <p:nvSpPr>
          <p:cNvPr id="209" name="5 Marcador de contenido"/>
          <p:cNvSpPr txBox="1"/>
          <p:nvPr/>
        </p:nvSpPr>
        <p:spPr>
          <a:xfrm>
            <a:off x="4654169" y="2495231"/>
            <a:ext cx="3986912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Prácticas alternativas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Otras interpelaciones, otros sentidos</a:t>
            </a:r>
          </a:p>
        </p:txBody>
      </p:sp>
      <p:pic>
        <p:nvPicPr>
          <p:cNvPr id="210" name="6 Imagen" descr="6 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32040" y="3645024"/>
            <a:ext cx="2952328" cy="22142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6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Comunicación</a:t>
            </a:r>
          </a:p>
        </p:txBody>
      </p:sp>
      <p:sp>
        <p:nvSpPr>
          <p:cNvPr id="213" name="7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Formas de socialidad. Procesos de socialización. Modos de estar juntos.</a:t>
            </a:r>
          </a:p>
          <a:p>
            <a:pPr/>
            <a:r>
              <a:t>Tipos de relaciones sociales: interpersonales, grupales, interculturales, etc.</a:t>
            </a:r>
          </a:p>
          <a:p>
            <a:pPr/>
            <a:r>
              <a:t>Modos de producción cultural. </a:t>
            </a:r>
          </a:p>
          <a:p>
            <a:pPr/>
            <a:r>
              <a:t>Procesos de producción de sentido.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1 Título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</p:spPr>
        <p:txBody>
          <a:bodyPr/>
          <a:lstStyle/>
          <a:p>
            <a:pPr/>
            <a:r>
              <a:t>Comunicación</a:t>
            </a:r>
          </a:p>
        </p:txBody>
      </p:sp>
      <p:sp>
        <p:nvSpPr>
          <p:cNvPr id="216" name="2 Marcador de contenido"/>
          <p:cNvSpPr txBox="1"/>
          <p:nvPr>
            <p:ph type="body" idx="1"/>
          </p:nvPr>
        </p:nvSpPr>
        <p:spPr>
          <a:xfrm>
            <a:off x="457200" y="1775190"/>
            <a:ext cx="8229600" cy="4625611"/>
          </a:xfrm>
          <a:prstGeom prst="rect">
            <a:avLst/>
          </a:prstGeom>
        </p:spPr>
        <p:txBody>
          <a:bodyPr/>
          <a:lstStyle/>
          <a:p>
            <a:pPr/>
            <a:r>
              <a:t>Relaciones que construimos con otros, conexiones e interacciones sociales situadas históricamente.</a:t>
            </a:r>
          </a:p>
          <a:p>
            <a:pPr/>
            <a:r>
              <a:t>Prácticas, acciones, procedimiento que tienen materialidad (sonora, verbal, visual) en un espacio y tiempo determinado. </a:t>
            </a:r>
          </a:p>
          <a:p>
            <a:pPr/>
            <a:r>
              <a:t>Sistemas semióticos /códigos/ memoria</a:t>
            </a:r>
          </a:p>
          <a:p>
            <a:pPr/>
            <a:r>
              <a:t>Soportes materiales del discurso.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1 Título"/>
          <p:cNvSpPr txBox="1"/>
          <p:nvPr>
            <p:ph type="title"/>
          </p:nvPr>
        </p:nvSpPr>
        <p:spPr>
          <a:xfrm>
            <a:off x="457200" y="152399"/>
            <a:ext cx="8229600" cy="1251064"/>
          </a:xfrm>
          <a:prstGeom prst="rect">
            <a:avLst/>
          </a:prstGeom>
        </p:spPr>
        <p:txBody>
          <a:bodyPr/>
          <a:lstStyle/>
          <a:p>
            <a:pPr/>
            <a:r>
              <a:t>Modo Cara a Cara</a:t>
            </a:r>
          </a:p>
        </p:txBody>
      </p:sp>
      <p:sp>
        <p:nvSpPr>
          <p:cNvPr id="219" name="3 Marcador de texto"/>
          <p:cNvSpPr txBox="1"/>
          <p:nvPr>
            <p:ph type="body" sz="quarter" idx="1"/>
          </p:nvPr>
        </p:nvSpPr>
        <p:spPr>
          <a:xfrm>
            <a:off x="457200" y="1698986"/>
            <a:ext cx="4040188" cy="715357"/>
          </a:xfrm>
          <a:prstGeom prst="rect">
            <a:avLst/>
          </a:prstGeom>
        </p:spPr>
        <p:txBody>
          <a:bodyPr/>
          <a:lstStyle/>
          <a:p>
            <a:pPr/>
            <a:r>
              <a:t>Características</a:t>
            </a:r>
          </a:p>
        </p:txBody>
      </p:sp>
      <p:sp>
        <p:nvSpPr>
          <p:cNvPr id="220" name="2 Marcador de contenido"/>
          <p:cNvSpPr txBox="1"/>
          <p:nvPr/>
        </p:nvSpPr>
        <p:spPr>
          <a:xfrm>
            <a:off x="466344" y="2495231"/>
            <a:ext cx="3985324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lnSpc>
                <a:spcPct val="90000"/>
              </a:lnSpc>
              <a:buClr>
                <a:schemeClr val="accent1"/>
              </a:buClr>
              <a:buSzPct val="80000"/>
              <a:buChar char="◼"/>
              <a:defRPr sz="2400"/>
            </a:pPr>
            <a:r>
              <a:t>Co-presencia. El cuerpo como soporte principal. Proximidad, cercanía-cotidianidad</a:t>
            </a:r>
          </a:p>
          <a:p>
            <a:pPr marL="438912" indent="-320040">
              <a:lnSpc>
                <a:spcPct val="90000"/>
              </a:lnSpc>
              <a:buClr>
                <a:schemeClr val="accent1"/>
              </a:buClr>
              <a:buSzPct val="80000"/>
              <a:buChar char="◼"/>
              <a:defRPr sz="2400"/>
            </a:pPr>
            <a:r>
              <a:t>Interpersonal, grupal o masiva</a:t>
            </a:r>
          </a:p>
          <a:p>
            <a:pPr marL="438912" indent="-320040">
              <a:lnSpc>
                <a:spcPct val="90000"/>
              </a:lnSpc>
              <a:buClr>
                <a:schemeClr val="accent1"/>
              </a:buClr>
              <a:buSzPct val="80000"/>
              <a:buChar char="◼"/>
              <a:defRPr sz="2400"/>
            </a:pPr>
            <a:r>
              <a:t>Mediada (social, cultural, económica, lingüística, etc)</a:t>
            </a:r>
          </a:p>
          <a:p>
            <a:pPr marL="438912" indent="-320040">
              <a:lnSpc>
                <a:spcPct val="90000"/>
              </a:lnSpc>
              <a:buClr>
                <a:schemeClr val="accent1"/>
              </a:buClr>
              <a:buSzPct val="80000"/>
              <a:buChar char="◼"/>
              <a:defRPr sz="2400"/>
            </a:pPr>
            <a:r>
              <a:t>Sistemas semióticos (verbal/no verbal)</a:t>
            </a:r>
          </a:p>
          <a:p>
            <a:pPr marL="438912" indent="-320040">
              <a:lnSpc>
                <a:spcPct val="90000"/>
              </a:lnSpc>
              <a:buClr>
                <a:schemeClr val="accent1"/>
              </a:buClr>
              <a:buSzPct val="80000"/>
              <a:buChar char="◼"/>
              <a:defRPr sz="2400"/>
            </a:pPr>
            <a:r>
              <a:t>Comunidades </a:t>
            </a:r>
          </a:p>
        </p:txBody>
      </p:sp>
      <p:sp>
        <p:nvSpPr>
          <p:cNvPr id="221" name="4 Marcador de texto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ClrTx/>
              <a:buSzTx/>
              <a:buNone/>
              <a:defRPr cap="all" sz="2300"/>
            </a:lvl1pPr>
          </a:lstStyle>
          <a:p>
            <a:pPr/>
            <a:r>
              <a:t>Escuelas /teorías</a:t>
            </a:r>
          </a:p>
        </p:txBody>
      </p:sp>
      <p:sp>
        <p:nvSpPr>
          <p:cNvPr id="222" name="5 Marcador de contenido"/>
          <p:cNvSpPr txBox="1"/>
          <p:nvPr/>
        </p:nvSpPr>
        <p:spPr>
          <a:xfrm>
            <a:off x="4654169" y="2495231"/>
            <a:ext cx="3986912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Palo Alto-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Interaccionismo simbólico.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Antropología- Etnografía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Etnometodología.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Sociolinguistica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Microsociología.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Semiótica- kinésica, proxémica.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1 Título"/>
          <p:cNvSpPr txBox="1"/>
          <p:nvPr>
            <p:ph type="title"/>
          </p:nvPr>
        </p:nvSpPr>
        <p:spPr>
          <a:xfrm>
            <a:off x="457200" y="152399"/>
            <a:ext cx="8229600" cy="1251064"/>
          </a:xfrm>
          <a:prstGeom prst="rect">
            <a:avLst/>
          </a:prstGeom>
        </p:spPr>
        <p:txBody>
          <a:bodyPr/>
          <a:lstStyle/>
          <a:p>
            <a:pPr/>
            <a:r>
              <a:t>Massmediación</a:t>
            </a:r>
          </a:p>
        </p:txBody>
      </p:sp>
      <p:sp>
        <p:nvSpPr>
          <p:cNvPr id="225" name="7 Marcador de texto"/>
          <p:cNvSpPr txBox="1"/>
          <p:nvPr>
            <p:ph type="body" sz="quarter" idx="1"/>
          </p:nvPr>
        </p:nvSpPr>
        <p:spPr>
          <a:xfrm>
            <a:off x="457200" y="1698986"/>
            <a:ext cx="4040188" cy="715357"/>
          </a:xfrm>
          <a:prstGeom prst="rect">
            <a:avLst/>
          </a:prstGeom>
        </p:spPr>
        <p:txBody>
          <a:bodyPr/>
          <a:lstStyle/>
          <a:p>
            <a:pPr/>
            <a:r>
              <a:t>características</a:t>
            </a:r>
          </a:p>
        </p:txBody>
      </p:sp>
      <p:sp>
        <p:nvSpPr>
          <p:cNvPr id="226" name="6 Marcador de contenido"/>
          <p:cNvSpPr txBox="1"/>
          <p:nvPr/>
        </p:nvSpPr>
        <p:spPr>
          <a:xfrm>
            <a:off x="466344" y="2495231"/>
            <a:ext cx="3985324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Soportes no esvanescentes del discurso…. Transposición. </a:t>
            </a:r>
          </a:p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Nuevos dispositivos de la comunicación (además de la oralidad y el cuerpo): mecánicos, electrónicos. </a:t>
            </a:r>
          </a:p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Diferida/ a distancia</a:t>
            </a:r>
          </a:p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Sin co-presencia. </a:t>
            </a:r>
          </a:p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Mayor alcance de espacio/tiempo</a:t>
            </a:r>
          </a:p>
          <a:p>
            <a:pPr marL="438911" indent="-320039">
              <a:buClr>
                <a:schemeClr val="accent1"/>
              </a:buClr>
              <a:buSzPct val="80000"/>
              <a:buChar char="◼"/>
              <a:defRPr sz="2200"/>
            </a:pPr>
            <a:r>
              <a:t>Producción industrial.</a:t>
            </a:r>
          </a:p>
        </p:txBody>
      </p:sp>
      <p:sp>
        <p:nvSpPr>
          <p:cNvPr id="227" name="8 Marcador de texto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ClrTx/>
              <a:buSzTx/>
              <a:buNone/>
              <a:defRPr cap="all" sz="2300"/>
            </a:lvl1pPr>
          </a:lstStyle>
          <a:p>
            <a:pPr/>
            <a:r>
              <a:t>Escuelas y teorías</a:t>
            </a:r>
          </a:p>
        </p:txBody>
      </p:sp>
      <p:sp>
        <p:nvSpPr>
          <p:cNvPr id="228" name="9 Marcador de contenido"/>
          <p:cNvSpPr txBox="1"/>
          <p:nvPr/>
        </p:nvSpPr>
        <p:spPr>
          <a:xfrm>
            <a:off x="4654169" y="2495231"/>
            <a:ext cx="3986912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Mass Communication research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Teoría crítica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Estructuralismo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Teoría de la dependencia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Estudios semióticos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Estudios cutlruales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Teoría de las mediaciones, 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1 Título"/>
          <p:cNvSpPr txBox="1"/>
          <p:nvPr>
            <p:ph type="title"/>
          </p:nvPr>
        </p:nvSpPr>
        <p:spPr>
          <a:xfrm>
            <a:off x="457200" y="152399"/>
            <a:ext cx="8229600" cy="1251064"/>
          </a:xfrm>
          <a:prstGeom prst="rect">
            <a:avLst/>
          </a:prstGeom>
        </p:spPr>
        <p:txBody>
          <a:bodyPr/>
          <a:lstStyle/>
          <a:p>
            <a:pPr/>
            <a:r>
              <a:t>Multimedial-digital</a:t>
            </a:r>
          </a:p>
        </p:txBody>
      </p:sp>
      <p:sp>
        <p:nvSpPr>
          <p:cNvPr id="231" name="2 Marcador de texto"/>
          <p:cNvSpPr txBox="1"/>
          <p:nvPr>
            <p:ph type="body" sz="quarter" idx="1"/>
          </p:nvPr>
        </p:nvSpPr>
        <p:spPr>
          <a:xfrm>
            <a:off x="457200" y="1698986"/>
            <a:ext cx="4040188" cy="715357"/>
          </a:xfrm>
          <a:prstGeom prst="rect">
            <a:avLst/>
          </a:prstGeom>
        </p:spPr>
        <p:txBody>
          <a:bodyPr/>
          <a:lstStyle/>
          <a:p>
            <a:pPr/>
            <a:r>
              <a:t>características</a:t>
            </a:r>
          </a:p>
        </p:txBody>
      </p:sp>
      <p:sp>
        <p:nvSpPr>
          <p:cNvPr id="232" name="3 Marcador de contenido"/>
          <p:cNvSpPr txBox="1"/>
          <p:nvPr/>
        </p:nvSpPr>
        <p:spPr>
          <a:xfrm>
            <a:off x="466344" y="2495231"/>
            <a:ext cx="3985324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Articulación de diferentes modalidades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Tics, nuevas formas de intermediación tecnológicas.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Nuevas habilidades y sensibilidades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Virtualidad, interactividad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Conexión/innovación.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Inteligencia artificial</a:t>
            </a:r>
          </a:p>
        </p:txBody>
      </p:sp>
      <p:sp>
        <p:nvSpPr>
          <p:cNvPr id="233" name="4 Marcador de texto"/>
          <p:cNvSpPr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>
              <a:buClrTx/>
              <a:buSzTx/>
              <a:buNone/>
              <a:defRPr cap="all" sz="2300"/>
            </a:lvl1pPr>
          </a:lstStyle>
          <a:p>
            <a:pPr/>
            <a:r>
              <a:t>Escuelas y teorías</a:t>
            </a:r>
          </a:p>
        </p:txBody>
      </p:sp>
      <p:sp>
        <p:nvSpPr>
          <p:cNvPr id="234" name="5 Marcador de contenido"/>
          <p:cNvSpPr txBox="1"/>
          <p:nvPr/>
        </p:nvSpPr>
        <p:spPr>
          <a:xfrm>
            <a:off x="4654169" y="2495231"/>
            <a:ext cx="3986912" cy="390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Telecomunicaciones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Cibernética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Semiótica 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Ciencias cognitivas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Filosofía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Estudios culturales</a:t>
            </a:r>
          </a:p>
          <a:p>
            <a:pPr marL="438912" indent="-320040">
              <a:buClr>
                <a:schemeClr val="accent1"/>
              </a:buClr>
              <a:buSzPct val="80000"/>
              <a:buChar char="◼"/>
              <a:defRPr sz="2400"/>
            </a:pPr>
            <a:r>
              <a:t>Economía política.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0000FF"/>
      </a:hlink>
      <a:folHlink>
        <a:srgbClr val="FF00FF"/>
      </a:folHlink>
    </a:clrScheme>
    <a:fontScheme name="Módulo">
      <a:majorFont>
        <a:latin typeface="Helvetica"/>
        <a:ea typeface="Helvetica"/>
        <a:cs typeface="Helvetica"/>
      </a:majorFont>
      <a:minorFont>
        <a:latin typeface="Corbel"/>
        <a:ea typeface="Corbel"/>
        <a:cs typeface="Corbel"/>
      </a:minorFont>
    </a:fontScheme>
    <a:fmtScheme name="Módu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38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38000"/>
              </a:srgbClr>
            </a:outerShdw>
          </a:effectLst>
        </a:effectStyle>
        <a:effectStyle>
          <a:effectLst>
            <a:outerShdw sx="100000" sy="100000" kx="0" ky="0" algn="b" rotWithShape="0" blurRad="50800" dist="25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480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480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0000FF"/>
      </a:hlink>
      <a:folHlink>
        <a:srgbClr val="FF00FF"/>
      </a:folHlink>
    </a:clrScheme>
    <a:fontScheme name="Módulo">
      <a:majorFont>
        <a:latin typeface="Helvetica"/>
        <a:ea typeface="Helvetica"/>
        <a:cs typeface="Helvetica"/>
      </a:majorFont>
      <a:minorFont>
        <a:latin typeface="Corbel"/>
        <a:ea typeface="Corbel"/>
        <a:cs typeface="Corbel"/>
      </a:minorFont>
    </a:fontScheme>
    <a:fmtScheme name="Módu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38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38000"/>
              </a:srgbClr>
            </a:outerShdw>
          </a:effectLst>
        </a:effectStyle>
        <a:effectStyle>
          <a:effectLst>
            <a:outerShdw sx="100000" sy="100000" kx="0" ky="0" algn="b" rotWithShape="0" blurRad="50800" dist="25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480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480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rbe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